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6858000"/>
          </a:xfrm>
          <a:prstGeom prst="rect">
            <a:avLst/>
          </a:prstGeom>
          <a:solidFill>
            <a:srgbClr val="0B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1" i="0">
                <a:solidFill>
                  <a:srgbClr val="C9A82C"/>
                </a:solidFill>
                <a:latin typeface="Calibri"/>
              </a:rPr>
              <a:t>SHAMEL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4F6FB"/>
                </a:solidFill>
                <a:latin typeface="Calibri"/>
              </a:rPr>
              <a:t>Smart Holistic Attendance
Management &amp; Compliance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005072"/>
            <a:ext cx="4572000" cy="36576"/>
          </a:xfrm>
          <a:prstGeom prst="rect">
            <a:avLst/>
          </a:prstGeom>
          <a:solidFill>
            <a:srgbClr val="C9A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160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CA6A"/>
                </a:solidFill>
                <a:latin typeface="Calibri"/>
              </a:rPr>
              <a:t>Team Members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348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B"/>
                </a:solidFill>
                <a:latin typeface="Calibri"/>
              </a:rPr>
              <a:t>Member 1  ·  Member 2  ·  Member 3  ·  Member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00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CA6A"/>
                </a:solidFill>
                <a:latin typeface="Calibri"/>
              </a:rPr>
              <a:t>Supervisor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074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B"/>
                </a:solidFill>
                <a:latin typeface="Calibri"/>
              </a:rPr>
              <a:t>Dr. Supervisor 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1264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F"/>
                </a:solidFill>
                <a:latin typeface="Calibri"/>
              </a:rPr>
              <a:t>College of Computer Science &amp; IT  ·  2024 / 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0" y="914400"/>
            <a:ext cx="2743200" cy="4572000"/>
          </a:xfrm>
          <a:prstGeom prst="rect">
            <a:avLst/>
          </a:prstGeom>
          <a:solidFill>
            <a:srgbClr val="1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22860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0" i="0">
                <a:solidFill>
                  <a:srgbClr val="C9A82C"/>
                </a:solidFill>
                <a:latin typeface="Calibri"/>
              </a:rPr>
              <a:t>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solidFill>
            <a:srgbClr val="1E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017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8CA6A"/>
                </a:solidFill>
                <a:latin typeface="Calibr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4F6FB"/>
                </a:solidFill>
                <a:latin typeface="Calibri"/>
              </a:rPr>
              <a:t>What SHAMEL Really 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097280" cy="36576"/>
          </a:xfrm>
          <a:prstGeom prst="rect">
            <a:avLst/>
          </a:prstGeom>
          <a:solidFill>
            <a:srgbClr val="C9A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A9BBF"/>
                </a:solidFill>
                <a:latin typeface="Calibri"/>
              </a:rPr>
              <a:t>A unified system that digitalises every layer of university operations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1737360" cy="1600200"/>
          </a:xfrm>
          <a:prstGeom prst="rect">
            <a:avLst/>
          </a:prstGeom>
          <a:solidFill>
            <a:srgbClr val="142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4F6FB"/>
                </a:solidFill>
                <a:latin typeface="Calibri"/>
              </a:rPr>
              <a:t>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87168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4F6FB"/>
                </a:solidFill>
                <a:latin typeface="Calibri"/>
              </a:rPr>
              <a:t>Biometric
Access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632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BF"/>
                </a:solidFill>
                <a:latin typeface="Calibri"/>
              </a:rPr>
              <a:t>Gate + Classroom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59152" y="1920240"/>
            <a:ext cx="1737360" cy="1600200"/>
          </a:xfrm>
          <a:prstGeom prst="rect">
            <a:avLst/>
          </a:prstGeom>
          <a:solidFill>
            <a:srgbClr val="142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59152" y="20116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4F6FB"/>
                </a:solidFill>
                <a:latin typeface="Calibri"/>
              </a:rPr>
              <a:t>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9152" y="2487168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4F6FB"/>
                </a:solidFill>
                <a:latin typeface="Calibri"/>
              </a:rPr>
              <a:t>Academic
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9152" y="30632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BF"/>
                </a:solidFill>
                <a:latin typeface="Calibri"/>
              </a:rPr>
              <a:t>Grades · Excuses · Reports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1104" y="1920240"/>
            <a:ext cx="1737360" cy="1600200"/>
          </a:xfrm>
          <a:prstGeom prst="rect">
            <a:avLst/>
          </a:prstGeom>
          <a:solidFill>
            <a:srgbClr val="142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61104" y="20116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4F6FB"/>
                </a:solidFill>
                <a:latin typeface="Calibri"/>
              </a:rPr>
              <a:t>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61104" y="2487168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4F6FB"/>
                </a:solidFill>
                <a:latin typeface="Calibri"/>
              </a:rPr>
              <a:t>Real-Time
Monitoring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61104" y="30632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BF"/>
                </a:solidFill>
                <a:latin typeface="Calibri"/>
              </a:rPr>
              <a:t>WebSocket live dashboards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657600"/>
            <a:ext cx="1737360" cy="1600200"/>
          </a:xfrm>
          <a:prstGeom prst="rect">
            <a:avLst/>
          </a:prstGeom>
          <a:solidFill>
            <a:srgbClr val="142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74904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4F6FB"/>
                </a:solidFill>
                <a:latin typeface="Calibri"/>
              </a:rPr>
              <a:t>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224528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4F6FB"/>
                </a:solidFill>
                <a:latin typeface="Calibri"/>
              </a:rPr>
              <a:t>Multi-Platform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8006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BF"/>
                </a:solidFill>
                <a:latin typeface="Calibri"/>
              </a:rPr>
              <a:t>Web PWA + Android App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59152" y="3657600"/>
            <a:ext cx="1737360" cy="1600200"/>
          </a:xfrm>
          <a:prstGeom prst="rect">
            <a:avLst/>
          </a:prstGeom>
          <a:solidFill>
            <a:srgbClr val="142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59152" y="374904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4F6FB"/>
                </a:solidFill>
                <a:latin typeface="Calibri"/>
              </a:rPr>
              <a:t>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59152" y="4224528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4F6FB"/>
                </a:solidFill>
                <a:latin typeface="Calibri"/>
              </a:rPr>
              <a:t>Role-Based
Security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59152" y="48006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BF"/>
                </a:solidFill>
                <a:latin typeface="Calibri"/>
              </a:rPr>
              <a:t>5 isolated role scopes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61104" y="3657600"/>
            <a:ext cx="1737360" cy="1600200"/>
          </a:xfrm>
          <a:prstGeom prst="rect">
            <a:avLst/>
          </a:prstGeom>
          <a:solidFill>
            <a:srgbClr val="142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61104" y="374904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4F6FB"/>
                </a:solidFill>
                <a:latin typeface="Calibri"/>
              </a:rPr>
              <a:t>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61104" y="4224528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4F6FB"/>
                </a:solidFill>
                <a:latin typeface="Calibri"/>
              </a:rPr>
              <a:t>Offline-First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61104" y="48006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BF"/>
                </a:solidFill>
                <a:latin typeface="Calibri"/>
              </a:rPr>
              <a:t>Works without internet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solidFill>
            <a:srgbClr val="1E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017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8CA6A"/>
                </a:solidFill>
                <a:latin typeface="Calibri"/>
              </a:rPr>
              <a:t>PROBLEM →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4F6FB"/>
                </a:solidFill>
                <a:latin typeface="Calibri"/>
              </a:rPr>
              <a:t>Identity &amp; Attendance Fraud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097280" cy="36576"/>
          </a:xfrm>
          <a:prstGeom prst="rect">
            <a:avLst/>
          </a:prstGeom>
          <a:solidFill>
            <a:srgbClr val="C9A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5303520" cy="320040"/>
          </a:xfrm>
          <a:prstGeom prst="rect">
            <a:avLst/>
          </a:prstGeom>
          <a:solidFill>
            <a:srgbClr val="3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6537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CA5A5"/>
                </a:solidFill>
                <a:latin typeface="Calibri"/>
              </a:rPr>
              <a:t>❌  The Problem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828800"/>
            <a:ext cx="5303520" cy="320040"/>
          </a:xfrm>
          <a:prstGeom prst="rect">
            <a:avLst/>
          </a:prstGeom>
          <a:solidFill>
            <a:srgbClr val="0E2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86537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✅  SHAMEL's Solution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12848"/>
            <a:ext cx="5303520" cy="603504"/>
          </a:xfrm>
          <a:prstGeom prst="rect">
            <a:avLst/>
          </a:prstGeom>
          <a:solidFill>
            <a:srgbClr val="1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286000"/>
            <a:ext cx="5166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B"/>
                </a:solidFill>
                <a:latin typeface="Calibri"/>
              </a:rPr>
              <a:t>• Proxy attendance — anyone signs for another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2212848"/>
            <a:ext cx="5303520" cy="603504"/>
          </a:xfrm>
          <a:prstGeom prst="rect">
            <a:avLst/>
          </a:prstGeom>
          <a:solidFill>
            <a:srgbClr val="0A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6208" y="2286000"/>
            <a:ext cx="5166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0B981"/>
                </a:solidFill>
                <a:latin typeface="Calibri"/>
              </a:rPr>
              <a:t>→ InsightFace buffalo_s — 512-dim cosine, spoofing fails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71216"/>
            <a:ext cx="5303520" cy="603504"/>
          </a:xfrm>
          <a:prstGeom prst="rect">
            <a:avLst/>
          </a:prstGeom>
          <a:solidFill>
            <a:srgbClr val="16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944368"/>
            <a:ext cx="5166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B"/>
                </a:solidFill>
                <a:latin typeface="Calibri"/>
              </a:rPr>
              <a:t>• No biometric verification at entry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2871216"/>
            <a:ext cx="5303520" cy="603504"/>
          </a:xfrm>
          <a:prstGeom prst="rect">
            <a:avLst/>
          </a:prstGeom>
          <a:solidFill>
            <a:srgbClr val="0C1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8" y="2944368"/>
            <a:ext cx="5166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0B981"/>
                </a:solidFill>
                <a:latin typeface="Calibri"/>
              </a:rPr>
              <a:t>→ Two-phase gate: MediaPipe (4ms) + InsightFace (9ms)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529584"/>
            <a:ext cx="5303520" cy="603504"/>
          </a:xfrm>
          <a:prstGeom prst="rect">
            <a:avLst/>
          </a:prstGeom>
          <a:solidFill>
            <a:srgbClr val="1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602736"/>
            <a:ext cx="5166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B"/>
                </a:solidFill>
                <a:latin typeface="Calibri"/>
              </a:rPr>
              <a:t>• Forged paper registers impossible to detect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3529584"/>
            <a:ext cx="5303520" cy="603504"/>
          </a:xfrm>
          <a:prstGeom prst="rect">
            <a:avLst/>
          </a:prstGeom>
          <a:solidFill>
            <a:srgbClr val="0A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3602736"/>
            <a:ext cx="5166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0B981"/>
                </a:solidFill>
                <a:latin typeface="Calibri"/>
              </a:rPr>
              <a:t>→ Every mark tied to a face embedding, not a signature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187952"/>
            <a:ext cx="5303520" cy="603504"/>
          </a:xfrm>
          <a:prstGeom prst="rect">
            <a:avLst/>
          </a:prstGeom>
          <a:solidFill>
            <a:srgbClr val="16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261104"/>
            <a:ext cx="5166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B"/>
                </a:solidFill>
                <a:latin typeface="Calibri"/>
              </a:rPr>
              <a:t>• No cooldown — same person re-enters repeatedly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4187952"/>
            <a:ext cx="5303520" cy="603504"/>
          </a:xfrm>
          <a:prstGeom prst="rect">
            <a:avLst/>
          </a:prstGeom>
          <a:solidFill>
            <a:srgbClr val="0C1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36208" y="4261104"/>
            <a:ext cx="5166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0B981"/>
                </a:solidFill>
                <a:latin typeface="Calibri"/>
              </a:rPr>
              <a:t>→ 30-second server-side cooldown per person per session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solidFill>
            <a:srgbClr val="1E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017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8CA6A"/>
                </a:solidFill>
                <a:latin typeface="Calibri"/>
              </a:rPr>
              <a:t>PROBLEM →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4F6FB"/>
                </a:solidFill>
                <a:latin typeface="Calibri"/>
              </a:rPr>
              <a:t>Zero Real-Time Visibility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097280" cy="36576"/>
          </a:xfrm>
          <a:prstGeom prst="rect">
            <a:avLst/>
          </a:prstGeom>
          <a:solidFill>
            <a:srgbClr val="C9A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5303520" cy="320040"/>
          </a:xfrm>
          <a:prstGeom prst="rect">
            <a:avLst/>
          </a:prstGeom>
          <a:solidFill>
            <a:srgbClr val="3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6537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CA5A5"/>
                </a:solidFill>
                <a:latin typeface="Calibri"/>
              </a:rPr>
              <a:t>❌  The Problem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828800"/>
            <a:ext cx="5303520" cy="320040"/>
          </a:xfrm>
          <a:prstGeom prst="rect">
            <a:avLst/>
          </a:prstGeom>
          <a:solidFill>
            <a:srgbClr val="0E2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86537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✅  SHAMEL's Solution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12848"/>
            <a:ext cx="5303520" cy="603504"/>
          </a:xfrm>
          <a:prstGeom prst="rect">
            <a:avLst/>
          </a:prstGeom>
          <a:solidFill>
            <a:srgbClr val="1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286000"/>
            <a:ext cx="5166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B"/>
                </a:solidFill>
                <a:latin typeface="Calibri"/>
              </a:rPr>
              <a:t>• Coordinators learn about absences days later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2212848"/>
            <a:ext cx="5303520" cy="603504"/>
          </a:xfrm>
          <a:prstGeom prst="rect">
            <a:avLst/>
          </a:prstGeom>
          <a:solidFill>
            <a:srgbClr val="0A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6208" y="2286000"/>
            <a:ext cx="5166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0B981"/>
                </a:solidFill>
                <a:latin typeface="Calibri"/>
              </a:rPr>
              <a:t>→ Django Channels WebSocket — events pushed instantly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71216"/>
            <a:ext cx="5303520" cy="603504"/>
          </a:xfrm>
          <a:prstGeom prst="rect">
            <a:avLst/>
          </a:prstGeom>
          <a:solidFill>
            <a:srgbClr val="16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944368"/>
            <a:ext cx="5166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B"/>
                </a:solidFill>
                <a:latin typeface="Calibri"/>
              </a:rPr>
              <a:t>• No live view of who is in which classroom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2871216"/>
            <a:ext cx="5303520" cy="603504"/>
          </a:xfrm>
          <a:prstGeom prst="rect">
            <a:avLst/>
          </a:prstGeom>
          <a:solidFill>
            <a:srgbClr val="0C1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8" y="2944368"/>
            <a:ext cx="5166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0B981"/>
                </a:solidFill>
                <a:latin typeface="Calibri"/>
              </a:rPr>
              <a:t>→ Live dashboard: per-classroom headcount, live chart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529584"/>
            <a:ext cx="5303520" cy="603504"/>
          </a:xfrm>
          <a:prstGeom prst="rect">
            <a:avLst/>
          </a:prstGeom>
          <a:solidFill>
            <a:srgbClr val="1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602736"/>
            <a:ext cx="5166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B"/>
                </a:solidFill>
                <a:latin typeface="Calibri"/>
              </a:rPr>
              <a:t>• Gate entry logs checked manually at end of day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3529584"/>
            <a:ext cx="5303520" cy="603504"/>
          </a:xfrm>
          <a:prstGeom prst="rect">
            <a:avLst/>
          </a:prstGeom>
          <a:solidFill>
            <a:srgbClr val="0A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3602736"/>
            <a:ext cx="5166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0B981"/>
                </a:solidFill>
                <a:latin typeface="Calibri"/>
              </a:rPr>
              <a:t>→ Gate logs update in real-time, filterable by role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187952"/>
            <a:ext cx="5303520" cy="603504"/>
          </a:xfrm>
          <a:prstGeom prst="rect">
            <a:avLst/>
          </a:prstGeom>
          <a:solidFill>
            <a:srgbClr val="16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261104"/>
            <a:ext cx="5166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B"/>
                </a:solidFill>
                <a:latin typeface="Calibri"/>
              </a:rPr>
              <a:t>• Students unaware of their own attendance status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4187952"/>
            <a:ext cx="5303520" cy="603504"/>
          </a:xfrm>
          <a:prstGeom prst="rect">
            <a:avLst/>
          </a:prstGeom>
          <a:solidFill>
            <a:srgbClr val="0C1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36208" y="4261104"/>
            <a:ext cx="5166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0B981"/>
                </a:solidFill>
                <a:latin typeface="Calibri"/>
              </a:rPr>
              <a:t>→ Student portal shows % and schedule gaps immediately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solidFill>
            <a:srgbClr val="1E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017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8CA6A"/>
                </a:solidFill>
                <a:latin typeface="Calibri"/>
              </a:rPr>
              <a:t>PROBLEM →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4F6FB"/>
                </a:solidFill>
                <a:latin typeface="Calibri"/>
              </a:rPr>
              <a:t>Paper Records &amp; Reporting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097280" cy="36576"/>
          </a:xfrm>
          <a:prstGeom prst="rect">
            <a:avLst/>
          </a:prstGeom>
          <a:solidFill>
            <a:srgbClr val="C9A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5303520" cy="320040"/>
          </a:xfrm>
          <a:prstGeom prst="rect">
            <a:avLst/>
          </a:prstGeom>
          <a:solidFill>
            <a:srgbClr val="3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6537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CA5A5"/>
                </a:solidFill>
                <a:latin typeface="Calibri"/>
              </a:rPr>
              <a:t>❌  The Problem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828800"/>
            <a:ext cx="5303520" cy="320040"/>
          </a:xfrm>
          <a:prstGeom prst="rect">
            <a:avLst/>
          </a:prstGeom>
          <a:solidFill>
            <a:srgbClr val="0E2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86537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✅  SHAMEL's Solution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12848"/>
            <a:ext cx="5303520" cy="603504"/>
          </a:xfrm>
          <a:prstGeom prst="rect">
            <a:avLst/>
          </a:prstGeom>
          <a:solidFill>
            <a:srgbClr val="1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286000"/>
            <a:ext cx="5166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B"/>
                </a:solidFill>
                <a:latin typeface="Calibri"/>
              </a:rPr>
              <a:t>• Attendance sheets lost, damaged, or tampered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2212848"/>
            <a:ext cx="5303520" cy="603504"/>
          </a:xfrm>
          <a:prstGeom prst="rect">
            <a:avLst/>
          </a:prstGeom>
          <a:solidFill>
            <a:srgbClr val="0A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6208" y="2286000"/>
            <a:ext cx="5166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0B981"/>
                </a:solidFill>
                <a:latin typeface="Calibri"/>
              </a:rPr>
              <a:t>→ All records in PostgreSQL with full timestamp chain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71216"/>
            <a:ext cx="5303520" cy="603504"/>
          </a:xfrm>
          <a:prstGeom prst="rect">
            <a:avLst/>
          </a:prstGeom>
          <a:solidFill>
            <a:srgbClr val="16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944368"/>
            <a:ext cx="5166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B"/>
                </a:solidFill>
                <a:latin typeface="Calibri"/>
              </a:rPr>
              <a:t>• Reports take days to compile manually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2871216"/>
            <a:ext cx="5303520" cy="603504"/>
          </a:xfrm>
          <a:prstGeom prst="rect">
            <a:avLst/>
          </a:prstGeom>
          <a:solidFill>
            <a:srgbClr val="0C1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8" y="2944368"/>
            <a:ext cx="5166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0B981"/>
                </a:solidFill>
                <a:latin typeface="Calibri"/>
              </a:rPr>
              <a:t>→ One-click PDF (WeasyPrint) · Excel · CSV exports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529584"/>
            <a:ext cx="5303520" cy="603504"/>
          </a:xfrm>
          <a:prstGeom prst="rect">
            <a:avLst/>
          </a:prstGeom>
          <a:solidFill>
            <a:srgbClr val="1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602736"/>
            <a:ext cx="5166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B"/>
                </a:solidFill>
                <a:latin typeface="Calibri"/>
              </a:rPr>
              <a:t>• No analytics on at-risk students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3529584"/>
            <a:ext cx="5303520" cy="603504"/>
          </a:xfrm>
          <a:prstGeom prst="rect">
            <a:avLst/>
          </a:prstGeom>
          <a:solidFill>
            <a:srgbClr val="0A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3602736"/>
            <a:ext cx="5166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0B981"/>
                </a:solidFill>
                <a:latin typeface="Calibri"/>
              </a:rPr>
              <a:t>→ Coordinator dashboard flags students below threshold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187952"/>
            <a:ext cx="5303520" cy="603504"/>
          </a:xfrm>
          <a:prstGeom prst="rect">
            <a:avLst/>
          </a:prstGeom>
          <a:solidFill>
            <a:srgbClr val="16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261104"/>
            <a:ext cx="5166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B"/>
                </a:solidFill>
                <a:latin typeface="Calibri"/>
              </a:rPr>
              <a:t>• Audit trail nonexistent when disputes arise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4187952"/>
            <a:ext cx="5303520" cy="603504"/>
          </a:xfrm>
          <a:prstGeom prst="rect">
            <a:avLst/>
          </a:prstGeom>
          <a:solidFill>
            <a:srgbClr val="0C1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36208" y="4261104"/>
            <a:ext cx="5166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0B981"/>
                </a:solidFill>
                <a:latin typeface="Calibri"/>
              </a:rPr>
              <a:t>→ AuditLog model records every sensitive action + actor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solidFill>
            <a:srgbClr val="1E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017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8CA6A"/>
                </a:solidFill>
                <a:latin typeface="Calibri"/>
              </a:rPr>
              <a:t>PROBLEM →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4F6FB"/>
                </a:solidFill>
                <a:latin typeface="Calibri"/>
              </a:rPr>
              <a:t>Access Control &amp; Data Silos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097280" cy="36576"/>
          </a:xfrm>
          <a:prstGeom prst="rect">
            <a:avLst/>
          </a:prstGeom>
          <a:solidFill>
            <a:srgbClr val="C9A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5303520" cy="320040"/>
          </a:xfrm>
          <a:prstGeom prst="rect">
            <a:avLst/>
          </a:prstGeom>
          <a:solidFill>
            <a:srgbClr val="3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6537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CA5A5"/>
                </a:solidFill>
                <a:latin typeface="Calibri"/>
              </a:rPr>
              <a:t>❌  The Problem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828800"/>
            <a:ext cx="5303520" cy="320040"/>
          </a:xfrm>
          <a:prstGeom prst="rect">
            <a:avLst/>
          </a:prstGeom>
          <a:solidFill>
            <a:srgbClr val="0E2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86537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✅  SHAMEL's Solution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12848"/>
            <a:ext cx="5303520" cy="603504"/>
          </a:xfrm>
          <a:prstGeom prst="rect">
            <a:avLst/>
          </a:prstGeom>
          <a:solidFill>
            <a:srgbClr val="1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286000"/>
            <a:ext cx="5166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B"/>
                </a:solidFill>
                <a:latin typeface="Calibri"/>
              </a:rPr>
              <a:t>• Staff see data they shouldn't (privacy violations)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2212848"/>
            <a:ext cx="5303520" cy="603504"/>
          </a:xfrm>
          <a:prstGeom prst="rect">
            <a:avLst/>
          </a:prstGeom>
          <a:solidFill>
            <a:srgbClr val="0A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6208" y="2286000"/>
            <a:ext cx="5166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0B981"/>
                </a:solidFill>
                <a:latin typeface="Calibri"/>
              </a:rPr>
              <a:t>→ 5-role RBAC: Admin · Coordinator · Teacher · Student · Gate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71216"/>
            <a:ext cx="5303520" cy="603504"/>
          </a:xfrm>
          <a:prstGeom prst="rect">
            <a:avLst/>
          </a:prstGeom>
          <a:solidFill>
            <a:srgbClr val="16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944368"/>
            <a:ext cx="5166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B"/>
                </a:solidFill>
                <a:latin typeface="Calibri"/>
              </a:rPr>
              <a:t>• No separation between administrative &amp; academic roles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2871216"/>
            <a:ext cx="5303520" cy="603504"/>
          </a:xfrm>
          <a:prstGeom prst="rect">
            <a:avLst/>
          </a:prstGeom>
          <a:solidFill>
            <a:srgbClr val="0C1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8" y="2944368"/>
            <a:ext cx="5166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0B981"/>
                </a:solidFill>
                <a:latin typeface="Calibri"/>
              </a:rPr>
              <a:t>→ Coordinator scoped to one College only — enforced in DB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529584"/>
            <a:ext cx="5303520" cy="603504"/>
          </a:xfrm>
          <a:prstGeom prst="rect">
            <a:avLst/>
          </a:prstGeom>
          <a:solidFill>
            <a:srgbClr val="1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602736"/>
            <a:ext cx="5166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B"/>
                </a:solidFill>
                <a:latin typeface="Calibri"/>
              </a:rPr>
              <a:t>• Gate operators had access to grade records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3529584"/>
            <a:ext cx="5303520" cy="603504"/>
          </a:xfrm>
          <a:prstGeom prst="rect">
            <a:avLst/>
          </a:prstGeom>
          <a:solidFill>
            <a:srgbClr val="0A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3602736"/>
            <a:ext cx="5166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0B981"/>
                </a:solidFill>
                <a:latin typeface="Calibri"/>
              </a:rPr>
              <a:t>→ Gate role: access logs only, zero academic data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187952"/>
            <a:ext cx="5303520" cy="603504"/>
          </a:xfrm>
          <a:prstGeom prst="rect">
            <a:avLst/>
          </a:prstGeom>
          <a:solidFill>
            <a:srgbClr val="16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261104"/>
            <a:ext cx="5166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B"/>
                </a:solidFill>
                <a:latin typeface="Calibri"/>
              </a:rPr>
              <a:t>• Coordinators were seeing other colleges' data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4187952"/>
            <a:ext cx="5303520" cy="603504"/>
          </a:xfrm>
          <a:prstGeom prst="rect">
            <a:avLst/>
          </a:prstGeom>
          <a:solidFill>
            <a:srgbClr val="0C1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36208" y="4261104"/>
            <a:ext cx="5166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0B981"/>
                </a:solidFill>
                <a:latin typeface="Calibri"/>
              </a:rPr>
              <a:t>→ Every view decorated with role-check, API same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solidFill>
            <a:srgbClr val="1E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017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8CA6A"/>
                </a:solidFill>
                <a:latin typeface="Calibri"/>
              </a:rPr>
              <a:t>PROBLEM →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4F6FB"/>
                </a:solidFill>
                <a:latin typeface="Calibri"/>
              </a:rPr>
              <a:t>Medical Excuse &amp; Communication Gaps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097280" cy="36576"/>
          </a:xfrm>
          <a:prstGeom prst="rect">
            <a:avLst/>
          </a:prstGeom>
          <a:solidFill>
            <a:srgbClr val="C9A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5303520" cy="320040"/>
          </a:xfrm>
          <a:prstGeom prst="rect">
            <a:avLst/>
          </a:prstGeom>
          <a:solidFill>
            <a:srgbClr val="3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6537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CA5A5"/>
                </a:solidFill>
                <a:latin typeface="Calibri"/>
              </a:rPr>
              <a:t>❌  The Problem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828800"/>
            <a:ext cx="5303520" cy="320040"/>
          </a:xfrm>
          <a:prstGeom prst="rect">
            <a:avLst/>
          </a:prstGeom>
          <a:solidFill>
            <a:srgbClr val="0E2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86537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✅  SHAMEL's Solution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12848"/>
            <a:ext cx="5303520" cy="603504"/>
          </a:xfrm>
          <a:prstGeom prst="rect">
            <a:avLst/>
          </a:prstGeom>
          <a:solidFill>
            <a:srgbClr val="1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286000"/>
            <a:ext cx="5166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B"/>
                </a:solidFill>
                <a:latin typeface="Calibri"/>
              </a:rPr>
              <a:t>• Paper excuse forms lost or delayed in bureaucracy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2212848"/>
            <a:ext cx="5303520" cy="603504"/>
          </a:xfrm>
          <a:prstGeom prst="rect">
            <a:avLst/>
          </a:prstGeom>
          <a:solidFill>
            <a:srgbClr val="0A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6208" y="2286000"/>
            <a:ext cx="5166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0B981"/>
                </a:solidFill>
                <a:latin typeface="Calibri"/>
              </a:rPr>
              <a:t>→ Digital excuse portal: upload docs, approve/reject online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71216"/>
            <a:ext cx="5303520" cy="603504"/>
          </a:xfrm>
          <a:prstGeom prst="rect">
            <a:avLst/>
          </a:prstGeom>
          <a:solidFill>
            <a:srgbClr val="16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944368"/>
            <a:ext cx="5166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B"/>
                </a:solidFill>
                <a:latin typeface="Calibri"/>
              </a:rPr>
              <a:t>• No document trail for medical absence disputes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2871216"/>
            <a:ext cx="5303520" cy="603504"/>
          </a:xfrm>
          <a:prstGeom prst="rect">
            <a:avLst/>
          </a:prstGeom>
          <a:solidFill>
            <a:srgbClr val="0C1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8" y="2944368"/>
            <a:ext cx="5166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0B981"/>
                </a:solidFill>
                <a:latin typeface="Calibri"/>
              </a:rPr>
              <a:t>→ Every excuse stored with file, status, timestamps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529584"/>
            <a:ext cx="5303520" cy="603504"/>
          </a:xfrm>
          <a:prstGeom prst="rect">
            <a:avLst/>
          </a:prstGeom>
          <a:solidFill>
            <a:srgbClr val="1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602736"/>
            <a:ext cx="5166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B"/>
                </a:solidFill>
                <a:latin typeface="Calibri"/>
              </a:rPr>
              <a:t>• Teachers unaware of approved excuses when grading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3529584"/>
            <a:ext cx="5303520" cy="603504"/>
          </a:xfrm>
          <a:prstGeom prst="rect">
            <a:avLst/>
          </a:prstGeom>
          <a:solidFill>
            <a:srgbClr val="0A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3602736"/>
            <a:ext cx="5166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0B981"/>
                </a:solidFill>
                <a:latin typeface="Calibri"/>
              </a:rPr>
              <a:t>→ Approved excuses auto-visible in teacher's record view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187952"/>
            <a:ext cx="5303520" cy="603504"/>
          </a:xfrm>
          <a:prstGeom prst="rect">
            <a:avLst/>
          </a:prstGeom>
          <a:solidFill>
            <a:srgbClr val="16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261104"/>
            <a:ext cx="5166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B"/>
                </a:solidFill>
                <a:latin typeface="Calibri"/>
              </a:rPr>
              <a:t>• No automated notification when student hits limit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4187952"/>
            <a:ext cx="5303520" cy="603504"/>
          </a:xfrm>
          <a:prstGeom prst="rect">
            <a:avLst/>
          </a:prstGeom>
          <a:solidFill>
            <a:srgbClr val="0C1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36208" y="4261104"/>
            <a:ext cx="5166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0B981"/>
                </a:solidFill>
                <a:latin typeface="Calibri"/>
              </a:rPr>
              <a:t>→ SMTP email alert sent when attendance falls below 75%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solidFill>
            <a:srgbClr val="1E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017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8CA6A"/>
                </a:solidFill>
                <a:latin typeface="Calibri"/>
              </a:rPr>
              <a:t>PROBLEM →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4F6FB"/>
                </a:solidFill>
                <a:latin typeface="Calibri"/>
              </a:rPr>
              <a:t>Connectivity &amp; Offline Reliability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097280" cy="36576"/>
          </a:xfrm>
          <a:prstGeom prst="rect">
            <a:avLst/>
          </a:prstGeom>
          <a:solidFill>
            <a:srgbClr val="C9A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5303520" cy="320040"/>
          </a:xfrm>
          <a:prstGeom prst="rect">
            <a:avLst/>
          </a:prstGeom>
          <a:solidFill>
            <a:srgbClr val="3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6537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CA5A5"/>
                </a:solidFill>
                <a:latin typeface="Calibri"/>
              </a:rPr>
              <a:t>❌  The Problem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828800"/>
            <a:ext cx="5303520" cy="320040"/>
          </a:xfrm>
          <a:prstGeom prst="rect">
            <a:avLst/>
          </a:prstGeom>
          <a:solidFill>
            <a:srgbClr val="0E2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86537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✅  SHAMEL's Solution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12848"/>
            <a:ext cx="5303520" cy="603504"/>
          </a:xfrm>
          <a:prstGeom prst="rect">
            <a:avLst/>
          </a:prstGeom>
          <a:solidFill>
            <a:srgbClr val="1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286000"/>
            <a:ext cx="5166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B"/>
                </a:solidFill>
                <a:latin typeface="Calibri"/>
              </a:rPr>
              <a:t>• Single internet outage breaks entire attendance flow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2212848"/>
            <a:ext cx="5303520" cy="603504"/>
          </a:xfrm>
          <a:prstGeom prst="rect">
            <a:avLst/>
          </a:prstGeom>
          <a:solidFill>
            <a:srgbClr val="0A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6208" y="2286000"/>
            <a:ext cx="5166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0B981"/>
                </a:solidFill>
                <a:latin typeface="Calibri"/>
              </a:rPr>
              <a:t>→ IndexedDB offline queue on web — auto-sync on reconnect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71216"/>
            <a:ext cx="5303520" cy="603504"/>
          </a:xfrm>
          <a:prstGeom prst="rect">
            <a:avLst/>
          </a:prstGeom>
          <a:solidFill>
            <a:srgbClr val="16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944368"/>
            <a:ext cx="5166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B"/>
                </a:solidFill>
                <a:latin typeface="Calibri"/>
              </a:rPr>
              <a:t>• VPS unreachable = system completely down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2871216"/>
            <a:ext cx="5303520" cy="603504"/>
          </a:xfrm>
          <a:prstGeom prst="rect">
            <a:avLst/>
          </a:prstGeom>
          <a:solidFill>
            <a:srgbClr val="0C1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8" y="2944368"/>
            <a:ext cx="5166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0B981"/>
                </a:solidFill>
                <a:latin typeface="Calibri"/>
              </a:rPr>
              <a:t>→ Auto-detect PostgreSQL → SQLite fallback at startup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529584"/>
            <a:ext cx="5303520" cy="603504"/>
          </a:xfrm>
          <a:prstGeom prst="rect">
            <a:avLst/>
          </a:prstGeom>
          <a:solidFill>
            <a:srgbClr val="1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602736"/>
            <a:ext cx="5166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B"/>
                </a:solidFill>
                <a:latin typeface="Calibri"/>
              </a:rPr>
              <a:t>• Mobile networks in lecture halls unreliable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3529584"/>
            <a:ext cx="5303520" cy="603504"/>
          </a:xfrm>
          <a:prstGeom prst="rect">
            <a:avLst/>
          </a:prstGeom>
          <a:solidFill>
            <a:srgbClr val="0A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3602736"/>
            <a:ext cx="5166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0B981"/>
                </a:solidFill>
                <a:latin typeface="Calibri"/>
              </a:rPr>
              <a:t>→ Flutter: sqflite local DB + connectivity_plus sync queue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187952"/>
            <a:ext cx="5303520" cy="603504"/>
          </a:xfrm>
          <a:prstGeom prst="rect">
            <a:avLst/>
          </a:prstGeom>
          <a:solidFill>
            <a:srgbClr val="16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261104"/>
            <a:ext cx="5166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B"/>
                </a:solidFill>
                <a:latin typeface="Calibri"/>
              </a:rPr>
              <a:t>• Data loss if session ends before upload completes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4187952"/>
            <a:ext cx="5303520" cy="603504"/>
          </a:xfrm>
          <a:prstGeom prst="rect">
            <a:avLst/>
          </a:prstGeom>
          <a:solidFill>
            <a:srgbClr val="0C1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36208" y="4261104"/>
            <a:ext cx="5166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0B981"/>
                </a:solidFill>
                <a:latin typeface="Calibri"/>
              </a:rPr>
              <a:t>→ Idempotent sync API — duplicate submissions are safe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solidFill>
            <a:srgbClr val="1E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017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8CA6A"/>
                </a:solidFill>
                <a:latin typeface="Calibri"/>
              </a:rPr>
              <a:t>PROBLEM →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4F6FB"/>
                </a:solidFill>
                <a:latin typeface="Calibri"/>
              </a:rPr>
              <a:t>Grade &amp; Eligibility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097280" cy="36576"/>
          </a:xfrm>
          <a:prstGeom prst="rect">
            <a:avLst/>
          </a:prstGeom>
          <a:solidFill>
            <a:srgbClr val="C9A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5303520" cy="320040"/>
          </a:xfrm>
          <a:prstGeom prst="rect">
            <a:avLst/>
          </a:prstGeom>
          <a:solidFill>
            <a:srgbClr val="3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6537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CA5A5"/>
                </a:solidFill>
                <a:latin typeface="Calibri"/>
              </a:rPr>
              <a:t>❌  The Problem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828800"/>
            <a:ext cx="5303520" cy="320040"/>
          </a:xfrm>
          <a:prstGeom prst="rect">
            <a:avLst/>
          </a:prstGeom>
          <a:solidFill>
            <a:srgbClr val="0E2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86537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✅  SHAMEL's Solution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12848"/>
            <a:ext cx="5303520" cy="603504"/>
          </a:xfrm>
          <a:prstGeom prst="rect">
            <a:avLst/>
          </a:prstGeom>
          <a:solidFill>
            <a:srgbClr val="1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286000"/>
            <a:ext cx="5166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B"/>
                </a:solidFill>
                <a:latin typeface="Calibri"/>
              </a:rPr>
              <a:t>• Manual eligibility calculation error-prone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2212848"/>
            <a:ext cx="5303520" cy="603504"/>
          </a:xfrm>
          <a:prstGeom prst="rect">
            <a:avLst/>
          </a:prstGeom>
          <a:solidFill>
            <a:srgbClr val="0A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6208" y="2286000"/>
            <a:ext cx="5166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0B981"/>
                </a:solidFill>
                <a:latin typeface="Calibri"/>
              </a:rPr>
              <a:t>→ Attendance % auto-calculated per course per student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71216"/>
            <a:ext cx="5303520" cy="603504"/>
          </a:xfrm>
          <a:prstGeom prst="rect">
            <a:avLst/>
          </a:prstGeom>
          <a:solidFill>
            <a:srgbClr val="16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944368"/>
            <a:ext cx="5166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B"/>
                </a:solidFill>
                <a:latin typeface="Calibri"/>
              </a:rPr>
              <a:t>• Students surprised by exam bans at the last moment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2871216"/>
            <a:ext cx="5303520" cy="603504"/>
          </a:xfrm>
          <a:prstGeom prst="rect">
            <a:avLst/>
          </a:prstGeom>
          <a:solidFill>
            <a:srgbClr val="0C1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8" y="2944368"/>
            <a:ext cx="5166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0B981"/>
                </a:solidFill>
                <a:latin typeface="Calibri"/>
              </a:rPr>
              <a:t>→ Ineligibility flag raised early — email sent immediately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529584"/>
            <a:ext cx="5303520" cy="603504"/>
          </a:xfrm>
          <a:prstGeom prst="rect">
            <a:avLst/>
          </a:prstGeom>
          <a:solidFill>
            <a:srgbClr val="1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602736"/>
            <a:ext cx="5166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B"/>
                </a:solidFill>
                <a:latin typeface="Calibri"/>
              </a:rPr>
              <a:t>• No link between attendance record and final grade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3529584"/>
            <a:ext cx="5303520" cy="603504"/>
          </a:xfrm>
          <a:prstGeom prst="rect">
            <a:avLst/>
          </a:prstGeom>
          <a:solidFill>
            <a:srgbClr val="0A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3602736"/>
            <a:ext cx="5166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0B981"/>
                </a:solidFill>
                <a:latin typeface="Calibri"/>
              </a:rPr>
              <a:t>→ Grade model linked to attendance &amp; excuse records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187952"/>
            <a:ext cx="5303520" cy="603504"/>
          </a:xfrm>
          <a:prstGeom prst="rect">
            <a:avLst/>
          </a:prstGeom>
          <a:solidFill>
            <a:srgbClr val="16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261104"/>
            <a:ext cx="5166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6FB"/>
                </a:solidFill>
                <a:latin typeface="Calibri"/>
              </a:rPr>
              <a:t>• Exam seat assignment done manually on paper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4187952"/>
            <a:ext cx="5303520" cy="603504"/>
          </a:xfrm>
          <a:prstGeom prst="rect">
            <a:avLst/>
          </a:prstGeom>
          <a:solidFill>
            <a:srgbClr val="0C1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36208" y="4261104"/>
            <a:ext cx="5166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0B981"/>
                </a:solidFill>
                <a:latin typeface="Calibri"/>
              </a:rPr>
              <a:t>→ ExamSeat model: auto-assign + PDF seating chart export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solidFill>
            <a:srgbClr val="1E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017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8CA6A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4F6FB"/>
                </a:solidFill>
                <a:latin typeface="Calibri"/>
              </a:rPr>
              <a:t>How the System Connects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097280" cy="36576"/>
          </a:xfrm>
          <a:prstGeom prst="rect">
            <a:avLst/>
          </a:prstGeom>
          <a:solidFill>
            <a:srgbClr val="C9A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A9BBF"/>
                </a:solidFill>
                <a:latin typeface="Calibri"/>
              </a:rPr>
              <a:t>Every component designed for resilience and scale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2286000" cy="914400"/>
          </a:xfrm>
          <a:prstGeom prst="rect">
            <a:avLst/>
          </a:prstGeom>
          <a:solidFill>
            <a:srgbClr val="142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2084832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60A5FA"/>
                </a:solidFill>
                <a:latin typeface="Calibri"/>
              </a:rPr>
              <a:t>🌐 Web Browser
(PWA)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474720"/>
            <a:ext cx="2286000" cy="914400"/>
          </a:xfrm>
          <a:prstGeom prst="rect">
            <a:avLst/>
          </a:prstGeom>
          <a:solidFill>
            <a:srgbClr val="142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3547872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60A5FA"/>
                </a:solidFill>
                <a:latin typeface="Calibri"/>
              </a:rPr>
              <a:t>📱 Flutter App
(Android)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937760"/>
            <a:ext cx="2286000" cy="914400"/>
          </a:xfrm>
          <a:prstGeom prst="rect">
            <a:avLst/>
          </a:prstGeom>
          <a:solidFill>
            <a:srgbClr val="142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5010912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60A5FA"/>
                </a:solidFill>
                <a:latin typeface="Calibri"/>
              </a:rPr>
              <a:t>🎥 Gate Camera
(RTSP)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08960" y="3108960"/>
            <a:ext cx="2286000" cy="914400"/>
          </a:xfrm>
          <a:prstGeom prst="rect">
            <a:avLst/>
          </a:prstGeom>
          <a:solidFill>
            <a:srgbClr val="1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82112" y="3182112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82C"/>
                </a:solidFill>
                <a:latin typeface="Calibri"/>
              </a:rPr>
              <a:t>🔀 Nginx
+ Daphne :9000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3108960"/>
            <a:ext cx="2286000" cy="914400"/>
          </a:xfrm>
          <a:prstGeom prst="rect">
            <a:avLst/>
          </a:prstGeom>
          <a:solidFill>
            <a:srgbClr val="10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42432" y="3182112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  <a:latin typeface="Calibri"/>
              </a:rPr>
              <a:t>🌿 Django
API + Views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2011680"/>
            <a:ext cx="2286000" cy="914400"/>
          </a:xfrm>
          <a:prstGeom prst="rect">
            <a:avLst/>
          </a:prstGeom>
          <a:solidFill>
            <a:srgbClr val="0E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2084832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  <a:latin typeface="Calibri"/>
              </a:rPr>
              <a:t>🧠 InsightFace
ONNX Engine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3474720"/>
            <a:ext cx="2286000" cy="914400"/>
          </a:xfrm>
          <a:prstGeom prst="rect">
            <a:avLst/>
          </a:prstGeom>
          <a:solidFill>
            <a:srgbClr val="0E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3547872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  <a:latin typeface="Calibri"/>
              </a:rPr>
              <a:t>🐘 PostgreSQL
+ SQLite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4937760"/>
            <a:ext cx="2286000" cy="914400"/>
          </a:xfrm>
          <a:prstGeom prst="rect">
            <a:avLst/>
          </a:prstGeom>
          <a:solidFill>
            <a:srgbClr val="0E2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02752" y="5010912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  <a:latin typeface="Calibri"/>
              </a:rPr>
              <a:t>⚡ Redis
Channels 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88920" y="245059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A9BBF"/>
                </a:solidFill>
                <a:latin typeface="Calibri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359359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A9BBF"/>
                </a:solidFill>
                <a:latin typeface="Calibri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535838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A9BBF"/>
                </a:solidFill>
                <a:latin typeface="Calibri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245059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A9BBF"/>
                </a:solidFill>
                <a:latin typeface="Calibri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359359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A9BBF"/>
                </a:solidFill>
                <a:latin typeface="Calibri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49240" y="535838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A9BBF"/>
                </a:solidFill>
                <a:latin typeface="Calibri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9560" y="245059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A9BBF"/>
                </a:solidFill>
                <a:latin typeface="Calibri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09560" y="359359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A9BBF"/>
                </a:solidFill>
                <a:latin typeface="Calibri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9560" y="535838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A9BBF"/>
                </a:solidFill>
                <a:latin typeface="Calibri"/>
              </a:rPr>
              <a:t>→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solidFill>
            <a:srgbClr val="1E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017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8CA6A"/>
                </a:solidFill>
                <a:latin typeface="Calibri"/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4F6FB"/>
                </a:solidFill>
                <a:latin typeface="Calibri"/>
              </a:rPr>
              <a:t>Built with the Right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097280" cy="36576"/>
          </a:xfrm>
          <a:prstGeom prst="rect">
            <a:avLst/>
          </a:prstGeom>
          <a:solidFill>
            <a:srgbClr val="C9A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920240"/>
            <a:ext cx="2560320" cy="841248"/>
          </a:xfrm>
          <a:prstGeom prst="rect">
            <a:avLst/>
          </a:prstGeom>
          <a:solidFill>
            <a:srgbClr val="142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201168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F6FB"/>
                </a:solidFill>
                <a:latin typeface="Calibri"/>
              </a:rPr>
              <a:t>🐍  Python 3.12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2395728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F"/>
                </a:solidFill>
                <a:latin typeface="Calibri"/>
              </a:rPr>
              <a:t>Runtime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81528" y="1920240"/>
            <a:ext cx="2560320" cy="841248"/>
          </a:xfrm>
          <a:prstGeom prst="rect">
            <a:avLst/>
          </a:prstGeom>
          <a:solidFill>
            <a:srgbClr val="142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91256" y="201168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F6FB"/>
                </a:solidFill>
                <a:latin typeface="Calibri"/>
              </a:rPr>
              <a:t>🌿  Django 4.x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91256" y="2395728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F"/>
                </a:solidFill>
                <a:latin typeface="Calibri"/>
              </a:rPr>
              <a:t>Web + API + WS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51576" y="1920240"/>
            <a:ext cx="2560320" cy="841248"/>
          </a:xfrm>
          <a:prstGeom prst="rect">
            <a:avLst/>
          </a:prstGeom>
          <a:solidFill>
            <a:srgbClr val="142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61304" y="201168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F6FB"/>
                </a:solidFill>
                <a:latin typeface="Calibri"/>
              </a:rPr>
              <a:t>📱  Flutter 3.41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61304" y="2395728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F"/>
                </a:solidFill>
                <a:latin typeface="Calibri"/>
              </a:rPr>
              <a:t>Android App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21624" y="1920240"/>
            <a:ext cx="2560320" cy="841248"/>
          </a:xfrm>
          <a:prstGeom prst="rect">
            <a:avLst/>
          </a:prstGeom>
          <a:solidFill>
            <a:srgbClr val="142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31352" y="201168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F6FB"/>
                </a:solidFill>
                <a:latin typeface="Calibri"/>
              </a:rPr>
              <a:t>🧠  InsightFace ONNX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31352" y="2395728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F"/>
                </a:solidFill>
                <a:latin typeface="Calibri"/>
              </a:rPr>
              <a:t>Face Recognition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871216"/>
            <a:ext cx="2560320" cy="841248"/>
          </a:xfrm>
          <a:prstGeom prst="rect">
            <a:avLst/>
          </a:prstGeom>
          <a:solidFill>
            <a:srgbClr val="142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" y="2962656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F6FB"/>
                </a:solidFill>
                <a:latin typeface="Calibri"/>
              </a:rPr>
              <a:t>👁️  MediaPipe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" y="3346704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F"/>
                </a:solidFill>
                <a:latin typeface="Calibri"/>
              </a:rPr>
              <a:t>Client Detection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81528" y="2871216"/>
            <a:ext cx="2560320" cy="841248"/>
          </a:xfrm>
          <a:prstGeom prst="rect">
            <a:avLst/>
          </a:prstGeom>
          <a:solidFill>
            <a:srgbClr val="142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91256" y="2962656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F6FB"/>
                </a:solidFill>
                <a:latin typeface="Calibri"/>
              </a:rPr>
              <a:t>🐘  PostgreSQL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91256" y="3346704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F"/>
                </a:solidFill>
                <a:latin typeface="Calibri"/>
              </a:rPr>
              <a:t>Primary DB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51576" y="2871216"/>
            <a:ext cx="2560320" cy="841248"/>
          </a:xfrm>
          <a:prstGeom prst="rect">
            <a:avLst/>
          </a:prstGeom>
          <a:solidFill>
            <a:srgbClr val="142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61304" y="2962656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F6FB"/>
                </a:solidFill>
                <a:latin typeface="Calibri"/>
              </a:rPr>
              <a:t>💾  SQLite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61304" y="3346704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F"/>
                </a:solidFill>
                <a:latin typeface="Calibri"/>
              </a:rPr>
              <a:t>Offline Fallback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21624" y="2871216"/>
            <a:ext cx="2560320" cy="841248"/>
          </a:xfrm>
          <a:prstGeom prst="rect">
            <a:avLst/>
          </a:prstGeom>
          <a:solidFill>
            <a:srgbClr val="142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31352" y="2962656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F6FB"/>
                </a:solidFill>
                <a:latin typeface="Calibri"/>
              </a:rPr>
              <a:t>⚡  Redis + Channels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31352" y="3346704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F"/>
                </a:solidFill>
                <a:latin typeface="Calibri"/>
              </a:rPr>
              <a:t>WebSocket Broker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3822192"/>
            <a:ext cx="2560320" cy="841248"/>
          </a:xfrm>
          <a:prstGeom prst="rect">
            <a:avLst/>
          </a:prstGeom>
          <a:solidFill>
            <a:srgbClr val="142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1208" y="3913632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F6FB"/>
                </a:solidFill>
                <a:latin typeface="Calibri"/>
              </a:rPr>
              <a:t>🐳  Docker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" y="429768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F"/>
                </a:solidFill>
                <a:latin typeface="Calibri"/>
              </a:rPr>
              <a:t>Containerisation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81528" y="3822192"/>
            <a:ext cx="2560320" cy="841248"/>
          </a:xfrm>
          <a:prstGeom prst="rect">
            <a:avLst/>
          </a:prstGeom>
          <a:solidFill>
            <a:srgbClr val="142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91256" y="3913632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F6FB"/>
                </a:solidFill>
                <a:latin typeface="Calibri"/>
              </a:rPr>
              <a:t>🔀  Nginx + Daphne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91256" y="429768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F"/>
                </a:solidFill>
                <a:latin typeface="Calibri"/>
              </a:rPr>
              <a:t>ASGI Reverse Proxy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51576" y="3822192"/>
            <a:ext cx="2560320" cy="841248"/>
          </a:xfrm>
          <a:prstGeom prst="rect">
            <a:avLst/>
          </a:prstGeom>
          <a:solidFill>
            <a:srgbClr val="142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61304" y="3913632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F6FB"/>
                </a:solidFill>
                <a:latin typeface="Calibri"/>
              </a:rPr>
              <a:t>📡  PWA / SW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61304" y="429768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F"/>
                </a:solidFill>
                <a:latin typeface="Calibri"/>
              </a:rPr>
              <a:t>Service Worker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21624" y="3822192"/>
            <a:ext cx="2560320" cy="841248"/>
          </a:xfrm>
          <a:prstGeom prst="rect">
            <a:avLst/>
          </a:prstGeom>
          <a:solidFill>
            <a:srgbClr val="142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31352" y="3913632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F6FB"/>
                </a:solidFill>
                <a:latin typeface="Calibri"/>
              </a:rPr>
              <a:t>🔑  Bearer Token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31352" y="429768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F"/>
                </a:solidFill>
                <a:latin typeface="Calibri"/>
              </a:rPr>
              <a:t>API Auth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solidFill>
            <a:srgbClr val="1E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017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8CA6A"/>
                </a:solidFill>
                <a:latin typeface="Calibri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4F6FB"/>
                </a:solidFill>
                <a:latin typeface="Calibri"/>
              </a:rPr>
              <a:t>System 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097280" cy="36576"/>
          </a:xfrm>
          <a:prstGeom prst="rect">
            <a:avLst/>
          </a:prstGeom>
          <a:solidFill>
            <a:srgbClr val="C9A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1737360" cy="1737360"/>
          </a:xfrm>
          <a:prstGeom prst="rect">
            <a:avLst/>
          </a:prstGeom>
          <a:solidFill>
            <a:srgbClr val="142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9A82C"/>
                </a:solidFill>
                <a:latin typeface="Calibri"/>
              </a:rPr>
              <a:t>≥ 95%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9BBF"/>
                </a:solidFill>
                <a:latin typeface="Calibri"/>
              </a:rPr>
              <a:t>Face Match
Accuracy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23160" y="1920240"/>
            <a:ext cx="1737360" cy="1737360"/>
          </a:xfrm>
          <a:prstGeom prst="rect">
            <a:avLst/>
          </a:prstGeom>
          <a:solidFill>
            <a:srgbClr val="142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23160" y="2148840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0B981"/>
                </a:solidFill>
                <a:latin typeface="Calibri"/>
              </a:rPr>
              <a:t>~4 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292608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9BBF"/>
                </a:solidFill>
                <a:latin typeface="Calibri"/>
              </a:rPr>
              <a:t>Face Detect
(InsightFace)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920240"/>
            <a:ext cx="1737360" cy="1737360"/>
          </a:xfrm>
          <a:prstGeom prst="rect">
            <a:avLst/>
          </a:prstGeom>
          <a:solidFill>
            <a:srgbClr val="142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2148840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0B981"/>
                </a:solidFill>
                <a:latin typeface="Calibri"/>
              </a:rPr>
              <a:t>~9 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92608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9BBF"/>
                </a:solidFill>
                <a:latin typeface="Calibri"/>
              </a:rPr>
              <a:t>Embedding
Encode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94760"/>
            <a:ext cx="1737360" cy="1737360"/>
          </a:xfrm>
          <a:prstGeom prst="rect">
            <a:avLst/>
          </a:prstGeom>
          <a:solidFill>
            <a:srgbClr val="142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023360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60A5FA"/>
                </a:solidFill>
                <a:latin typeface="Calibri"/>
              </a:rPr>
              <a:t>13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80060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9BBF"/>
                </a:solidFill>
                <a:latin typeface="Calibri"/>
              </a:rPr>
              <a:t>End-to-End
Inference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3794760"/>
            <a:ext cx="1737360" cy="1737360"/>
          </a:xfrm>
          <a:prstGeom prst="rect">
            <a:avLst/>
          </a:prstGeom>
          <a:solidFill>
            <a:srgbClr val="142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23160" y="4023360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9A82C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480060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9BBF"/>
                </a:solidFill>
                <a:latin typeface="Calibri"/>
              </a:rPr>
              <a:t>Isolated
Role Scopes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3794760"/>
            <a:ext cx="1737360" cy="1737360"/>
          </a:xfrm>
          <a:prstGeom prst="rect">
            <a:avLst/>
          </a:prstGeom>
          <a:solidFill>
            <a:srgbClr val="142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4023360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0B981"/>
                </a:solidFill>
                <a:latin typeface="Calibri"/>
              </a:rP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80060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9BBF"/>
                </a:solidFill>
                <a:latin typeface="Calibri"/>
              </a:rPr>
              <a:t>Offline-First
Capable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2011680" cy="292608"/>
          </a:xfrm>
          <a:prstGeom prst="rect">
            <a:avLst/>
          </a:prstGeom>
          <a:solidFill>
            <a:srgbClr val="1E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017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8CA6A"/>
                </a:solidFill>
                <a:latin typeface="Calibri"/>
              </a:rPr>
              <a:t>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4F6FB"/>
                </a:solidFill>
                <a:latin typeface="Calibri"/>
              </a:rPr>
              <a:t>Where SHAMEL Goes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097280" cy="36576"/>
          </a:xfrm>
          <a:prstGeom prst="rect">
            <a:avLst/>
          </a:prstGeom>
          <a:solidFill>
            <a:srgbClr val="C9A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11247120" cy="914400"/>
          </a:xfrm>
          <a:prstGeom prst="rect">
            <a:avLst/>
          </a:prstGeom>
          <a:solidFill>
            <a:srgbClr val="142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084832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C9A82C"/>
                </a:solidFill>
                <a:latin typeface="Calibri"/>
              </a:rPr>
              <a:t>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01168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4F6FB"/>
                </a:solidFill>
                <a:latin typeface="Calibri"/>
              </a:rPr>
              <a:t>pgvector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395728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BF"/>
                </a:solidFill>
                <a:latin typeface="Calibri"/>
              </a:rPr>
              <a:t>GPU-accelerated cosine search — O(1) at any scale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944368"/>
            <a:ext cx="11247120" cy="914400"/>
          </a:xfrm>
          <a:prstGeom prst="rect">
            <a:avLst/>
          </a:prstGeom>
          <a:solidFill>
            <a:srgbClr val="142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10896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C9A82C"/>
                </a:solidFill>
                <a:latin typeface="Calibri"/>
              </a:rPr>
              <a:t>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03580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4F6FB"/>
                </a:solidFill>
                <a:latin typeface="Calibri"/>
              </a:rPr>
              <a:t>Exam Proctoring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419856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BF"/>
                </a:solidFill>
                <a:latin typeface="Calibri"/>
              </a:rPr>
              <a:t>Continuous face verification + auto seat assignment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968496"/>
            <a:ext cx="11247120" cy="914400"/>
          </a:xfrm>
          <a:prstGeom prst="rect">
            <a:avLst/>
          </a:prstGeom>
          <a:solidFill>
            <a:srgbClr val="142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133088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C9A82C"/>
                </a:solidFill>
                <a:latin typeface="Calibri"/>
              </a:rPr>
              <a:t>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059936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4F6FB"/>
                </a:solidFill>
                <a:latin typeface="Calibri"/>
              </a:rPr>
              <a:t>SMS / WhatsApp Alerts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443984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BF"/>
                </a:solidFill>
                <a:latin typeface="Calibri"/>
              </a:rPr>
              <a:t>Instant parent notification on absence breach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992624"/>
            <a:ext cx="11247120" cy="914400"/>
          </a:xfrm>
          <a:prstGeom prst="rect">
            <a:avLst/>
          </a:prstGeom>
          <a:solidFill>
            <a:srgbClr val="1424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157216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C9A82C"/>
                </a:solidFill>
                <a:latin typeface="Calibri"/>
              </a:rPr>
              <a:t>🏛️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5084064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4F6FB"/>
                </a:solidFill>
                <a:latin typeface="Calibri"/>
              </a:rPr>
              <a:t>Multi-Campus Federation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5468112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BF"/>
                </a:solidFill>
                <a:latin typeface="Calibri"/>
              </a:rPr>
              <a:t>Shared embedding store across university branches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12079224" cy="6858000"/>
          </a:xfrm>
          <a:prstGeom prst="rect">
            <a:avLst/>
          </a:prstGeom>
          <a:solidFill>
            <a:srgbClr val="0B1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1" i="0">
                <a:solidFill>
                  <a:srgbClr val="C9A82C"/>
                </a:solidFill>
                <a:latin typeface="Calibri"/>
              </a:rPr>
              <a:t>SHAMEL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108960"/>
            <a:ext cx="3931920" cy="36576"/>
          </a:xfrm>
          <a:prstGeom prst="rect">
            <a:avLst/>
          </a:prstGeom>
          <a:solidFill>
            <a:srgbClr val="C9A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4F6FB"/>
                </a:solidFill>
                <a:latin typeface="Calibri"/>
              </a:rPr>
              <a:t>Thank You  ·  Q &amp;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9BBF"/>
                </a:solidFill>
                <a:latin typeface="Calibri"/>
              </a:rPr>
              <a:t>shamel.sd  ·  Python · Django · Flutter · InsightFace ONNX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A4A65"/>
                </a:solidFill>
                <a:latin typeface="Calibri"/>
              </a:rPr>
              <a:t>College of Computer Science &amp; IT  ·  2024 /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